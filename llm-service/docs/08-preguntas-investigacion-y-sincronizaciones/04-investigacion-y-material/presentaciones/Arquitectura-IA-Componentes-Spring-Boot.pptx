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IA EN PRODUCCIÓN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componentes críticos del stack Spring Boot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sostienen, protegen y controlan al tutor evaluador basado en LLMs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DEL ECOSISTEMA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frentes, trece piezas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157984" cy="4663440"/>
          </a:xfrm>
          <a:prstGeom prst="roundRect">
            <a:avLst>
              <a:gd name="adj" fmla="val 5085"/>
            </a:avLst>
          </a:prstGeom>
          <a:solidFill>
            <a:srgbClr val="E8ECFF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828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4C6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587752"/>
            <a:ext cx="109728" cy="109728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44144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09728" cy="109728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21868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24912" y="1600200"/>
            <a:ext cx="2157984" cy="4663440"/>
          </a:xfrm>
          <a:prstGeom prst="roundRect">
            <a:avLst>
              <a:gd name="adj" fmla="val 5085"/>
            </a:avLst>
          </a:prstGeom>
          <a:solidFill>
            <a:srgbClr val="FBE7E0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9504" y="1828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 ANTI-FUGA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2587752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08960" y="244144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JavaParser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6080" y="3364992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321868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DJL + Embeddings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26080" y="4142232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08960" y="399592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92624" y="1600200"/>
            <a:ext cx="2157984" cy="4663440"/>
          </a:xfrm>
          <a:prstGeom prst="roundRect">
            <a:avLst>
              <a:gd name="adj" fmla="val 5085"/>
            </a:avLst>
          </a:prstGeom>
          <a:solidFill>
            <a:srgbClr val="FDF1DC"/>
          </a:solidFill>
          <a:ln/>
        </p:spPr>
      </p:sp>
      <p:sp>
        <p:nvSpPr>
          <p:cNvPr id="21" name="Shape 19"/>
          <p:cNvSpPr/>
          <p:nvPr/>
        </p:nvSpPr>
        <p:spPr>
          <a:xfrm>
            <a:off x="5157216" y="1828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5721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RESILIENCIA, COSTOS Y OBSERVABILIDAD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93792" y="25877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76672" y="244144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93792" y="33649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76672" y="321868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Bucket4j + Redis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93792" y="414223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376672" y="399592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Micrometer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60336" y="1600200"/>
            <a:ext cx="2157984" cy="4663440"/>
          </a:xfrm>
          <a:prstGeom prst="roundRect">
            <a:avLst>
              <a:gd name="adj" fmla="val 5085"/>
            </a:avLst>
          </a:prstGeom>
          <a:solidFill>
            <a:srgbClr val="DFF5F1"/>
          </a:solidFill>
          <a:ln/>
        </p:spPr>
      </p:sp>
      <p:sp>
        <p:nvSpPr>
          <p:cNvPr id="30" name="Shape 28"/>
          <p:cNvSpPr/>
          <p:nvPr/>
        </p:nvSpPr>
        <p:spPr>
          <a:xfrm>
            <a:off x="7424928" y="1828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24928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INFRAESTRUCTURA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61504" y="25877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44384" y="244144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+ JPA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61504" y="336499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44384" y="321868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461504" y="41422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44384" y="399592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+ WireMock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528048" y="1600200"/>
            <a:ext cx="2157984" cy="4663440"/>
          </a:xfrm>
          <a:prstGeom prst="roundRect">
            <a:avLst>
              <a:gd name="adj" fmla="val 5085"/>
            </a:avLst>
          </a:prstGeom>
          <a:solidFill>
            <a:srgbClr val="F0E6F5"/>
          </a:solidFill>
          <a:ln/>
        </p:spPr>
      </p:sp>
      <p:sp>
        <p:nvSpPr>
          <p:cNvPr id="39" name="Shape 37"/>
          <p:cNvSpPr/>
          <p:nvPr/>
        </p:nvSpPr>
        <p:spPr>
          <a:xfrm>
            <a:off x="9692640" y="1828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7B4FA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926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ASÍNCRONO Y RAG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29216" y="2587752"/>
            <a:ext cx="109728" cy="109728"/>
          </a:xfrm>
          <a:prstGeom prst="ellipse">
            <a:avLst/>
          </a:prstGeom>
          <a:solidFill>
            <a:srgbClr val="7B4FA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12096" y="244144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729216" y="3364992"/>
            <a:ext cx="109728" cy="109728"/>
          </a:xfrm>
          <a:prstGeom prst="ellipse">
            <a:avLst/>
          </a:prstGeom>
          <a:solidFill>
            <a:srgbClr val="7B4FA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12096" y="321868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Tika + Tess4J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E8EC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Langchain4j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el código Java con los distintos modelos de IA: Gemini, Claude, OpenAI.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su ChatModel para dialogar con el LLM y parsear las respuestas como objetos Java/JSON estructurados.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atarse a un solo proveedor: cambiar de modelo es solo una línea de configuración, no una reescritura.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E8EC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un adaptador de enchufe universal: el código es tu cargador, Langchain4j hace que funcione en cualquier toma de IA."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HTTP a mano (RestTemplate): cientos de líneas para manejar errores, reintentos y mapeos de JSON por cada proveedor distinto.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E8EC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6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AI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oficial de Spring para IA. Hace lo mismo que Langchain4j: conecta con Gemini, OpenAI, etc.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igual, inyectando un ChatClient en los servicios. Se probó a fondo en una demo interna.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SE USA EN EL NÚCLEO?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es más maduro, con más modelos open-source soportados y control más fino sobre prompts y JSON de salida.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4160520"/>
          </a:xfrm>
          <a:prstGeom prst="roundRect">
            <a:avLst>
              <a:gd name="adj" fmla="val 3077"/>
            </a:avLst>
          </a:prstGeom>
          <a:solidFill>
            <a:srgbClr val="E8EC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como comparar Google Maps con Apple Maps: los dos llegan a destino, pero se eligió el que tiene más años y más rutas mapeadas."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 ANTI-FUGA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6" name="Image 0" descr="icons/search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JavaParser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sintácticamente el código que la IA le responde al alumno, antes de mostrárselo.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código en un AST (árbol de sintaxis abstracta) y lo compara contra la solución del profesor.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 lógica del programa, no el texto: si se parecen en más de un 70%, bloquea la respuesta.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FBE7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la máquina de rayos X del aeropuerto: no le importa el color de la valija, ve la forma exacta de lo prohibido adentro."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texto igual con .contains() o Regex: renombrar una variable ya alcanza para esquivarlo, aunque la trampa sea idéntica.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 ANTI-FUGA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6" name="Image 0" descr="icons/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DJL + Embeddings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barrera anti-fuga: atrapa a la IA cuando da la solución explicada con palabras, no con código.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embeddings localmente en el servidor Java y calcula la distancia semántica entre la respuesta de la IA y la solución del profesor.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JavaParser solo ve código; DJL detecta el significado, aunque esté descrito en lenguaje natural. Corre gratis y offline.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FBE7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un test psicológico que revela si dos personas piensan exactamente igual, aunque hablen idiomas distintos."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Embeddings de OpenAI: mandar cada mensaje a internet suma costo en dólares y latencia por cada consulta.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 ANTI-FUGA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6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solo el API Gateway o un usuario autenticado puedan disparar la IA.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 cada petición HTTP y valida si trae un token JWT válido y el rol necesario.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microservicio es M2M: si alguien intenta pegarle directo por Postman puenteando el Gateway, lo rebota con 401/403.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4160520"/>
          </a:xfrm>
          <a:prstGeom prst="roundRect">
            <a:avLst>
              <a:gd name="adj" fmla="val 3077"/>
            </a:avLst>
          </a:prstGeom>
          <a:solidFill>
            <a:srgbClr val="FBE7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el personal de seguridad del sector VIP: sin la pulsera correcta, no entrás a usar la IA aunque ya estés adentro de la red interna."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RESILIENCIA, COSTOS Y OBSERVABILIDAD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Resilience4j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servidor cuando la API de la IA anda lenta, se cae o devuelve error.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@CircuitBreaker, @Retry y @TimeLimiter sobre los métodos que llaman a la IA.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Google se cae, corta la conexión al instante en vez de dejar cientos de requests colgadas hasta agotar la memoria.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FDF1D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la llave térmica de tu casa: salta ante el corto y te quedás sin luz en un enchufe, no con la casa incendiada."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try/catch gigantes a mano: inmantenibles y sin reglas avanzadas como "si falla el 50% en un minuto, cortá".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RESILIENCIA, COSTOS Y OBSERVABILIDAD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Bucket4j + Redis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controla la cuota diaria de preguntas que puede hacerle cada alumno a la IA.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un "balde" de tokens virtuales; Spring Data Redis lo guarda en memoria RAM.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un ataque de "Denial of Wallet": un bot no puede vaciar la cuenta haciendo miles de consultas pagas.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FDF1D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la pulsera electrónica del parque de diversiones: 15 pases, y al pasarte el escáner te bloquea hasta mañana."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en PostgreSQL: un UPDATE y un SELECT por cada mensaje de chat sería demasiado lento comparado con Redis.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RESILIENCIA, COSTOS Y OBSERVABILIDAD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 + Micrometer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Espía las "constantes vitales" del microservicio: latencia, caídas y consumo de tokens.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expone endpoints como /actuator/prometheus; Micrometer cronometra cada llamada y cuenta tokens.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llega una factura de $500 de Gemini a fin de mes, permite saber exactamente quién y qué servicio los gastó.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FDF1D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el tablero de un auto: sin él podés manejar, pero no sabés si el motor recalentó o te quedás sin nafta."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System.out.println o inserts manuales por cada métrica: taparía el código de negocio con basura operativa.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DFF5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INFRAESTRUCTURA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HikariCP + Spring Data JPA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pool de conexiones a PostgreSQL para guardar notas, auditorías y Golden Sets.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un número constante de conexiones abiertas y las recicla rápido entre peticiones de los alumnos.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una conexión nueva es un proceso caro y lento; HikariCP es hoy el pool más rápido del ecosistema Java.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DFF5F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el jefe de salón de un restaurante: mozos fijos atendiendo mesas en vez de mandar gente nueva desde la calle."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JDBC Pool o C3P0: más viejos, más lentos y con mayor consumo de recursos que HikariCP.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DFF5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INFRAESTRUCTURA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s/arch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 gratuito de Amazon S3 para guardar los archivos pesados (PDFs, Excels, imágenes) del material.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envía el archivo a MinIO durante la ingesta de RAG, y este devuelve una URL de acceso.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binarios de 50MB dentro de tablas de PostgreSQL vuelve a la base lenta y cara de respaldar.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DFF5F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alquilar un galpón de depósito para las cajas grandes, en vez de apretarlas en el cajón del escritorio."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local del servidor: si el día de mañana hay tres servidores en paralelo, uno no encuentra el archivo del otro.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DFF5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INFRAESTRUCTURA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s/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Testcontainers + WireMock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automático que garantiza que el código funciona antes de subirlo a producción.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levanta Postgres y Kafka reales en contenedores descartables; WireMock simula la API de Google.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gastar dólares reales de la API en cada test, y que los tests fallen por falta de conexión.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DFF5F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el simulador de vuelo de un piloto: la cabina es idéntica a la real, pero estrellarse ahí sale gratis."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en memoria para todo: no soporta pgvector, así que los tests de embeddings explotarían en H2 aunque funcionen en Postgres.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0E6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ASÍNCRONO Y RAG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7B4FA0"/>
          </a:solidFill>
          <a:ln/>
        </p:spPr>
      </p:sp>
      <p:pic>
        <p:nvPicPr>
          <p:cNvPr id="6" name="Image 0" descr="icons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for Apache Kafka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las tareas de IA demasiado lentas como para dejar al alumno esperando (5 a 15 segundos).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publica un evento en una cola; un worker lo lee, habla con la IA a su ritmo y guarda la nota.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50 alumnos entregan a la vez, Kafka los pone en fila en vez de agotar los threads del servidor.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3246120"/>
          </a:xfrm>
          <a:prstGeom prst="roundRect">
            <a:avLst>
              <a:gd name="adj" fmla="val 3944"/>
            </a:avLst>
          </a:prstGeom>
          <a:solidFill>
            <a:srgbClr val="F0E6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como dejar el traje en la tintorería: te dan un ticket, te vas, y te avisan cuando está listo para retirar."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55046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790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directo o RabbitMQ: si la IA se cae en ese segundo exacto, el examen del alumno se pierde para siempre.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0E6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ASÍNCRONO Y RAG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56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868680"/>
          </a:xfrm>
          <a:prstGeom prst="ellipse">
            <a:avLst/>
          </a:prstGeom>
          <a:solidFill>
            <a:srgbClr val="7B4FA0"/>
          </a:solidFill>
          <a:ln/>
        </p:spPr>
      </p:sp>
      <p:pic>
        <p:nvPicPr>
          <p:cNvPr id="6" name="Image 0" descr="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24712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Tika + Tess4J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5740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5000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"ojos" de la IA: le permiten leer PDFs, Excels e imágenes escaneadas que sube el profesor para el RAG.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7588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Tika detecta el tipo de archivo y extrae el texto; si es una imagen escaneada, Tess4J (OCR) reconoce las letras.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SÍ LO USAMOS?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001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LLMs no pueden "tragar" eficientemente un PDF crudo de 500 páginas: hay que masticarlo en chunks primero.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52360" y="2057400"/>
            <a:ext cx="4251960" cy="4160520"/>
          </a:xfrm>
          <a:prstGeom prst="roundRect">
            <a:avLst>
              <a:gd name="adj" fmla="val 3077"/>
            </a:avLst>
          </a:prstGeom>
          <a:solidFill>
            <a:srgbClr val="F0E6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2606040"/>
            <a:ext cx="3703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 el asistente del rey que traduce el papiro manchado y le entrega solo el párrafo que necesita para gobernar."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480560"/>
            <a:ext cx="3474720" cy="347472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FONDO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componente sobra.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responde a un riesgo concreto de llevar un LLM a producción con alumnos reales: que se fugue la solución, que la factura explote, que el servidor se caiga esperando a Google, o que un examen se pierda en el camino.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2026-09-12T21:05:38Z</dcterms:created>
  <dcterms:modified xsi:type="dcterms:W3CDTF">2026-09-12T21:05:38Z</dcterms:modified>
</cp:coreProperties>
</file>